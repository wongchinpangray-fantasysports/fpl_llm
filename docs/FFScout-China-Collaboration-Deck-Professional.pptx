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1371600" cy="45720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574817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000" b="1" smtClean="0">
                <a:solidFill>
                  <a:srgbClr val="FFFFFF"/>
                </a:solidFill>
                <a:latin typeface="Calibri"/>
              </a:rPr>
              <a:t>FALEAGUE x </a:t>
            </a:r>
            <a:r>
              <a:rPr sz="3000" b="1" smtClean="0">
                <a:solidFill>
                  <a:srgbClr val="FFFFFF"/>
                </a:solidFill>
                <a:latin typeface="Calibri"/>
              </a:rPr>
              <a:t>Fantasy </a:t>
            </a:r>
            <a:r>
              <a:rPr sz="3000" b="1" dirty="0">
                <a:solidFill>
                  <a:srgbClr val="FFFFFF"/>
                </a:solidFill>
                <a:latin typeface="Calibri"/>
              </a:rPr>
              <a:t>Football </a:t>
            </a:r>
            <a:r>
              <a:rPr sz="3000" b="1" dirty="0" smtClean="0">
                <a:solidFill>
                  <a:srgbClr val="FFFFFF"/>
                </a:solidFill>
                <a:latin typeface="Calibri"/>
              </a:rPr>
              <a:t>Scout</a:t>
            </a:r>
            <a:endParaRPr sz="3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4117859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700" dirty="0">
                <a:solidFill>
                  <a:srgbClr val="0D6E56"/>
                </a:solidFill>
                <a:latin typeface="Calibri"/>
              </a:rPr>
              <a:t>D</a:t>
            </a:r>
            <a:r>
              <a:rPr sz="1700" b="0" dirty="0" smtClean="0">
                <a:solidFill>
                  <a:srgbClr val="0D6E56"/>
                </a:solidFill>
                <a:latin typeface="Calibri"/>
              </a:rPr>
              <a:t>iscussion </a:t>
            </a:r>
            <a:r>
              <a:rPr lang="en-US" sz="1700" b="0" dirty="0" smtClean="0">
                <a:solidFill>
                  <a:srgbClr val="0D6E56"/>
                </a:solidFill>
                <a:latin typeface="Calibri"/>
              </a:rPr>
              <a:t>of FPL Tool Development in China</a:t>
            </a:r>
            <a:endParaRPr sz="1700" b="0" dirty="0">
              <a:solidFill>
                <a:srgbClr val="0D6E56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A8A99"/>
                </a:solidFill>
                <a:latin typeface="Calibri"/>
              </a:rPr>
              <a:t>Confidential discussion material  ·  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6E56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Calibri"/>
              </a:rP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87552"/>
            <a:ext cx="1051560" cy="36576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774"/>
                </a:solidFill>
                <a:latin typeface="Calibri"/>
              </a:rPr>
              <a:t>≈25 minutes presentation, then open discussion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17904"/>
            <a:ext cx="10972800" cy="713232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517904"/>
            <a:ext cx="73152" cy="713232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700784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D6E56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682496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3"/>
                </a:solidFill>
                <a:latin typeface="Calibri"/>
              </a:rPr>
              <a:t>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71907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774"/>
                </a:solidFill>
                <a:latin typeface="Calibri"/>
              </a:rPr>
              <a:t>Why Scout × FALEAGUE is complementary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22576"/>
            <a:ext cx="10972800" cy="713232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322576"/>
            <a:ext cx="73152" cy="713232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505456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D6E56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487168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3"/>
                </a:solidFill>
                <a:latin typeface="Calibri"/>
              </a:rPr>
              <a:t>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523744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774"/>
                </a:solidFill>
                <a:latin typeface="Calibri"/>
              </a:rPr>
              <a:t>Realistic framing — no vanity China headcount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127248"/>
            <a:ext cx="10972800" cy="713232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127248"/>
            <a:ext cx="73152" cy="713232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31012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D6E56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29184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3"/>
                </a:solidFill>
                <a:latin typeface="Calibri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328416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774"/>
                </a:solidFill>
                <a:latin typeface="Calibri"/>
              </a:rPr>
              <a:t>Survey: sources, bridge, WTP, hub demand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31920"/>
            <a:ext cx="10972800" cy="713232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931920"/>
            <a:ext cx="73152" cy="713232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114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D6E56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0965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3"/>
                </a:solidFill>
                <a:latin typeface="Calibri"/>
              </a:rPr>
              <a:t>Offer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413308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774"/>
                </a:solidFill>
                <a:latin typeface="Calibri"/>
              </a:rPr>
              <a:t>Product snapshot and collaboration options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736592"/>
            <a:ext cx="10972800" cy="713232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4736592"/>
            <a:ext cx="73152" cy="713232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91947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D6E56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901184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3"/>
                </a:solidFill>
                <a:latin typeface="Calibri"/>
              </a:rPr>
              <a:t>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4937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774"/>
                </a:solidFill>
                <a:latin typeface="Calibri"/>
              </a:rPr>
              <a:t>Attributed content pilot and decision points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446520"/>
            <a:ext cx="10972800" cy="13716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6510528"/>
            <a:ext cx="8412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774"/>
                </a:solidFill>
                <a:latin typeface="Calibri"/>
              </a:rPr>
              <a:t>FALEAGUE AI  ·  Confidential  ·  Scout discussion  ·  2/17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651052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774"/>
                </a:solidFill>
                <a:latin typeface="Calibri"/>
              </a:rPr>
              <a:t>v2  ·  Survey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6E56"/>
                </a:solidFill>
                <a:latin typeface="Calibri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Calibri"/>
              </a:rPr>
              <a:t>Why we are talking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87552"/>
            <a:ext cx="1051560" cy="36576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07008"/>
            <a:ext cx="10972800" cy="548640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34416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242E"/>
                </a:solidFill>
                <a:latin typeface="Calibri"/>
              </a:rPr>
              <a:t>Fantasy Football Scout is the category authority for serious FPL managers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65376"/>
            <a:ext cx="10972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002536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242E"/>
                </a:solidFill>
                <a:latin typeface="Calibri"/>
              </a:rPr>
              <a:t>FALEAGUE operates a live bilingual product with WeChat-native distribution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23744"/>
            <a:ext cx="10972800" cy="548640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660904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242E"/>
                </a:solidFill>
                <a:latin typeface="Calibri"/>
              </a:rPr>
              <a:t>We ran an unbranded survey first — this deck brings evidence, not hypotheses alone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82112"/>
            <a:ext cx="10972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31927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242E"/>
                </a:solidFill>
                <a:latin typeface="Calibri"/>
              </a:rPr>
              <a:t>The question: does a light, attributed China channel create value for Scout?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74920"/>
            <a:ext cx="10972800" cy="1051560"/>
          </a:xfrm>
          <a:prstGeom prst="rect">
            <a:avLst/>
          </a:prstGeom>
          <a:solidFill>
            <a:srgbClr val="E6F2EE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5074920"/>
            <a:ext cx="73152" cy="1051560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202936"/>
            <a:ext cx="106070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1F33"/>
                </a:solidFill>
                <a:latin typeface="Calibri"/>
              </a:rPr>
              <a:t>Positioning: Scout owns trust and depth. FALEAGUE owns China access and product distribution. Survey shows Chinese managers already consume overseas signal — often without clean attribution.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46520"/>
            <a:ext cx="10972800" cy="13716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8412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774"/>
                </a:solidFill>
                <a:latin typeface="Calibri"/>
              </a:rPr>
              <a:t>FALEAGUE AI  ·  Confidential  ·  Scout discussion  ·  3/17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651052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774"/>
                </a:solidFill>
                <a:latin typeface="Calibri"/>
              </a:rPr>
              <a:t>v2  ·  Survey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6E56"/>
                </a:solidFill>
                <a:latin typeface="Calibri"/>
              </a:rPr>
              <a:t>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Calibri"/>
              </a:rPr>
              <a:t>What we will and will not claim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87552"/>
            <a:ext cx="1051560" cy="36576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07008"/>
            <a:ext cx="5394960" cy="4160520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07008"/>
            <a:ext cx="5394960" cy="54864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4356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1F33"/>
                </a:solidFill>
                <a:latin typeface="Calibri"/>
              </a:rPr>
              <a:t>Global FPL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8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C242E"/>
                </a:solidFill>
                <a:latin typeface="Calibri"/>
              </a:rPr>
              <a:t>•  ~11.5M managers (2024/25)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C242E"/>
                </a:solidFill>
                <a:latin typeface="Calibri"/>
              </a:rPr>
              <a:t>•  ~13M+ reported (2025/26)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C242E"/>
                </a:solidFill>
                <a:latin typeface="Calibri"/>
              </a:rPr>
              <a:t>•  Strong late-season engagement globally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C242E"/>
                </a:solidFill>
                <a:latin typeface="Calibri"/>
              </a:rPr>
              <a:t>•  Useful as scale context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07008"/>
            <a:ext cx="5394960" cy="4160520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207008"/>
            <a:ext cx="5394960" cy="54864"/>
          </a:xfrm>
          <a:prstGeom prst="rect">
            <a:avLst/>
          </a:prstGeom>
          <a:solidFill>
            <a:srgbClr val="8A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4356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1F33"/>
                </a:solidFill>
                <a:latin typeface="Calibri"/>
              </a:rPr>
              <a:t>China — disciplined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92808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C242E"/>
                </a:solidFill>
                <a:latin typeface="Calibri"/>
              </a:rPr>
              <a:t>•  No official China FPL census published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C242E"/>
                </a:solidFill>
                <a:latin typeface="Calibri"/>
              </a:rPr>
              <a:t>•  We will not invent a headcount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C242E"/>
                </a:solidFill>
                <a:latin typeface="Calibri"/>
              </a:rPr>
              <a:t>•  Proxy: China fantasy sports ~$1.2B, high-teens CAGR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C242E"/>
                </a:solidFill>
                <a:latin typeface="Calibri"/>
              </a:rPr>
              <a:t>•  Survey = WeChat-cohort behaviour &amp; WTP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72800" cy="13716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8412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774"/>
                </a:solidFill>
                <a:latin typeface="Calibri"/>
              </a:rPr>
              <a:t>FALEAGUE AI  ·  Confidential  ·  Scout discussion  ·  4/17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651052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774"/>
                </a:solidFill>
                <a:latin typeface="Calibri"/>
              </a:rPr>
              <a:t>v2  ·  Survey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6E56"/>
                </a:solidFill>
                <a:latin typeface="Calibri"/>
              </a:rPr>
              <a:t>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Calibri"/>
              </a:rPr>
              <a:t>The China distribution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87552"/>
            <a:ext cx="1051560" cy="36576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07008"/>
            <a:ext cx="10972800" cy="868680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426464"/>
            <a:ext cx="438912" cy="438912"/>
          </a:xfrm>
          <a:prstGeom prst="ellipse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48132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3716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F33"/>
                </a:solidFill>
                <a:latin typeface="Calibri"/>
              </a:rPr>
              <a:t>Pull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408176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242E"/>
                </a:solidFill>
                <a:latin typeface="Calibri"/>
              </a:rPr>
              <a:t>Managers take cues from overseas creators and specialist sites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212848"/>
            <a:ext cx="10972800" cy="868680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68680" y="2432304"/>
            <a:ext cx="438912" cy="438912"/>
          </a:xfrm>
          <a:prstGeom prst="ellipse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48716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3774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F33"/>
                </a:solidFill>
                <a:latin typeface="Calibri"/>
              </a:rPr>
              <a:t>Package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6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242E"/>
                </a:solidFill>
                <a:latin typeface="Calibri"/>
              </a:rPr>
              <a:t>Local creators translate / rewrite for WeChat, 小红书, short video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18688"/>
            <a:ext cx="10972800" cy="868680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8680" y="3438144"/>
            <a:ext cx="438912" cy="438912"/>
          </a:xfrm>
          <a:prstGeom prst="ellipse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49300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3832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F33"/>
                </a:solidFill>
                <a:latin typeface="Calibri"/>
              </a:rPr>
              <a:t>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419856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242E"/>
                </a:solidFill>
                <a:latin typeface="Calibri"/>
              </a:rPr>
              <a:t>Signal arrives — often delayed, partial, weakly attributed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24528"/>
            <a:ext cx="10972800" cy="868680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68680" y="4443984"/>
            <a:ext cx="438912" cy="438912"/>
          </a:xfrm>
          <a:prstGeom prst="ellipse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49884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3891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F33"/>
                </a:solidFill>
                <a:latin typeface="Calibri"/>
              </a:rPr>
              <a:t>Choice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425696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242E"/>
                </a:solidFill>
                <a:latin typeface="Calibri"/>
              </a:rPr>
              <a:t>Stay unofficial, or build an attributed, quality-controlled channel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46520"/>
            <a:ext cx="10972800" cy="13716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8412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774"/>
                </a:solidFill>
                <a:latin typeface="Calibri"/>
              </a:rPr>
              <a:t>FALEAGUE AI  ·  Confidential  ·  Scout discussion  ·  5/17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651052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774"/>
                </a:solidFill>
                <a:latin typeface="Calibri"/>
              </a:rPr>
              <a:t>v2  ·  Survey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6E56"/>
                </a:solidFill>
                <a:latin typeface="Calibri"/>
              </a:rPr>
              <a:t>EVIDENCE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Calibri"/>
              </a:rPr>
              <a:t>Who answered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87552"/>
            <a:ext cx="1051560" cy="36576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774"/>
                </a:solidFill>
                <a:latin typeface="Calibri"/>
              </a:rPr>
              <a:t>Unbranded Wenjuanxing survey · Aug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44752"/>
            <a:ext cx="2647188" cy="102412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444752"/>
            <a:ext cx="2647188" cy="45720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09344"/>
            <a:ext cx="24825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D6E56"/>
                </a:solidFill>
                <a:latin typeface="Calibri"/>
              </a:rPr>
              <a:t>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11680"/>
            <a:ext cx="25374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774"/>
                </a:solidFill>
                <a:latin typeface="Calibri"/>
              </a:rPr>
              <a:t>Responses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5284" y="1444752"/>
            <a:ext cx="2647188" cy="102412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15284" y="1444752"/>
            <a:ext cx="2647188" cy="45720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06724" y="1609344"/>
            <a:ext cx="24825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D6E56"/>
                </a:solidFill>
                <a:latin typeface="Calibri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8436" y="2011680"/>
            <a:ext cx="25374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774"/>
                </a:solidFill>
                <a:latin typeface="Calibri"/>
              </a:rPr>
              <a:t>CN / HK / TW / SG-MY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1444752"/>
            <a:ext cx="2647188" cy="102412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0488" y="1444752"/>
            <a:ext cx="2647188" cy="45720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8" y="1609344"/>
            <a:ext cx="24825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D6E56"/>
                </a:solidFill>
                <a:latin typeface="Calibr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011680"/>
            <a:ext cx="25374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774"/>
                </a:solidFill>
                <a:latin typeface="Calibri"/>
              </a:rPr>
              <a:t>WeChat recruit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5692" y="1444752"/>
            <a:ext cx="2647188" cy="102412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65692" y="1444752"/>
            <a:ext cx="2647188" cy="45720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7132" y="1609344"/>
            <a:ext cx="24825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D6E56"/>
                </a:solidFill>
                <a:latin typeface="Calibri"/>
              </a:rPr>
              <a:t>78%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8844" y="2011680"/>
            <a:ext cx="25374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774"/>
                </a:solidFill>
                <a:latin typeface="Calibri"/>
              </a:rPr>
              <a:t>Bilingual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679192"/>
            <a:ext cx="10972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280720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F33"/>
                </a:solidFill>
                <a:latin typeface="Calibri"/>
              </a:rPr>
              <a:t>Playing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807208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C242E"/>
                </a:solidFill>
                <a:latin typeface="Calibri"/>
              </a:rPr>
              <a:t>This season 66.7%  ·  Previously 23.3%  ·  Not started yet 10%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319271"/>
            <a:ext cx="10972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3447287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F33"/>
                </a:solidFill>
                <a:latin typeface="Calibri"/>
              </a:rPr>
              <a:t>Experience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447287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C242E"/>
                </a:solidFill>
                <a:latin typeface="Calibri"/>
              </a:rPr>
              <a:t>4–6 seasons 41.7%  ·  2–3 35%  ·  7+ 18.3%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959352"/>
            <a:ext cx="10972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40873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F33"/>
                </a:solidFill>
                <a:latin typeface="Calibri"/>
              </a:rPr>
              <a:t>Rank band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087368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C242E"/>
                </a:solidFill>
                <a:latin typeface="Calibri"/>
              </a:rPr>
              <a:t>Top 100k 41.7%  ·  Top 1M 38.3%  ·  Top 10k 15%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599431"/>
            <a:ext cx="10972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4727447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F33"/>
                </a:solidFill>
                <a:latin typeface="Calibri"/>
              </a:rPr>
              <a:t>Demographics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727447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C242E"/>
                </a:solidFill>
                <a:latin typeface="Calibri"/>
              </a:rPr>
              <a:t>Age 25–34 58%  ·  35–44 32%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760720"/>
            <a:ext cx="10972800" cy="502920"/>
          </a:xfrm>
          <a:prstGeom prst="rect">
            <a:avLst/>
          </a:prstGeom>
          <a:solidFill>
            <a:srgbClr val="FBF3E0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0080" y="5760720"/>
            <a:ext cx="73152" cy="502920"/>
          </a:xfrm>
          <a:prstGeom prst="rect">
            <a:avLst/>
          </a:prstGeom>
          <a:solidFill>
            <a:srgbClr val="8A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" y="5888736"/>
            <a:ext cx="10607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1F33"/>
                </a:solidFill>
                <a:latin typeface="Calibri"/>
              </a:rPr>
              <a:t>Read as directional evidence from a WeChat convenience sample — not a national FPL census.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446520"/>
            <a:ext cx="10972800" cy="13716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6510528"/>
            <a:ext cx="8412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774"/>
                </a:solidFill>
                <a:latin typeface="Calibri"/>
              </a:rPr>
              <a:t>FALEAGUE AI  ·  Confidential  ·  Scout discussion  ·  6/17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651052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774"/>
                </a:solidFill>
                <a:latin typeface="Calibri"/>
              </a:rPr>
              <a:t>v2  ·  Survey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6E56"/>
                </a:solidFill>
                <a:latin typeface="Calibri"/>
              </a:rPr>
              <a:t>EVIDENCE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Calibri"/>
              </a:rPr>
              <a:t>Information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87552"/>
            <a:ext cx="1051560" cy="36576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774"/>
                </a:solidFill>
                <a:latin typeface="Calibri"/>
              </a:rPr>
              <a:t>Focus n=60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44752"/>
            <a:ext cx="2647188" cy="102412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444752"/>
            <a:ext cx="2647188" cy="45720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09344"/>
            <a:ext cx="24825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D6E56"/>
                </a:solidFill>
                <a:latin typeface="Calibri"/>
              </a:rPr>
              <a:t>66.7%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11680"/>
            <a:ext cx="25374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774"/>
                </a:solidFill>
                <a:latin typeface="Calibri"/>
              </a:rPr>
              <a:t>Overseas site/creator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5284" y="1444752"/>
            <a:ext cx="2647188" cy="102412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15284" y="1444752"/>
            <a:ext cx="2647188" cy="45720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06724" y="1609344"/>
            <a:ext cx="24825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D6E56"/>
                </a:solidFill>
                <a:latin typeface="Calibri"/>
              </a:rPr>
              <a:t>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8436" y="2011680"/>
            <a:ext cx="25374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774"/>
                </a:solidFill>
                <a:latin typeface="Calibri"/>
              </a:rPr>
              <a:t>CN creators / 公众号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1444752"/>
            <a:ext cx="2647188" cy="102412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0488" y="1444752"/>
            <a:ext cx="2647188" cy="45720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8" y="1609344"/>
            <a:ext cx="24825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D6E56"/>
                </a:solidFill>
                <a:latin typeface="Calibri"/>
              </a:rPr>
              <a:t>63%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011680"/>
            <a:ext cx="25374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774"/>
                </a:solidFill>
                <a:latin typeface="Calibri"/>
              </a:rPr>
              <a:t>WeChat as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5692" y="1444752"/>
            <a:ext cx="2647188" cy="102412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65692" y="1444752"/>
            <a:ext cx="2647188" cy="45720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7132" y="1609344"/>
            <a:ext cx="24825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D6E56"/>
                </a:solidFill>
                <a:latin typeface="Calibri"/>
              </a:rPr>
              <a:t>91.7%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8844" y="2011680"/>
            <a:ext cx="25374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774"/>
                </a:solidFill>
                <a:latin typeface="Calibri"/>
              </a:rPr>
              <a:t>WeChat group habit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679192"/>
            <a:ext cx="1097280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2752344"/>
            <a:ext cx="3931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2752344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Use regularly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752344"/>
            <a:ext cx="32918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In top-3 importance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044952"/>
            <a:ext cx="10972800" cy="47548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315468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Overseas creators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1546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58%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154680"/>
            <a:ext cx="3291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53%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520440"/>
            <a:ext cx="10972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3630168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CN creators / 公众号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363016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70%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630168"/>
            <a:ext cx="3291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50%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995928"/>
            <a:ext cx="10972800" cy="47548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" y="4105656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Official FPL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40" y="4105656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58%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105656"/>
            <a:ext cx="3291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38%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71416"/>
            <a:ext cx="10972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4581144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WeChat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2040" y="4581144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63%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4581144"/>
            <a:ext cx="3291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37%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4946904"/>
            <a:ext cx="10972800" cy="47548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7240" y="5056632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Overseas sites / tools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2040" y="505663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37%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5056632"/>
            <a:ext cx="3291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28%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5422392"/>
            <a:ext cx="10972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7240" y="5532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Local translated posts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2040" y="55321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37%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5532120"/>
            <a:ext cx="3291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25%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6446520"/>
            <a:ext cx="10972800" cy="13716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" y="6510528"/>
            <a:ext cx="8412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774"/>
                </a:solidFill>
                <a:latin typeface="Calibri"/>
              </a:rPr>
              <a:t>FALEAGUE AI  ·  Confidential  ·  Scout discussion  ·  7/17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651052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774"/>
                </a:solidFill>
                <a:latin typeface="Calibri"/>
              </a:rPr>
              <a:t>v2  ·  Survey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6E56"/>
                </a:solidFill>
                <a:latin typeface="Calibri"/>
              </a:rPr>
              <a:t>EVIDENCE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Calibri"/>
              </a:rPr>
              <a:t>The translation bridge — validated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87552"/>
            <a:ext cx="1051560" cy="36576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07008"/>
            <a:ext cx="2647188" cy="102412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07008"/>
            <a:ext cx="2647188" cy="45720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24825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D6E56"/>
                </a:solidFill>
                <a:latin typeface="Calibri"/>
              </a:rPr>
              <a:t>46.7%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73936"/>
            <a:ext cx="25374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774"/>
                </a:solidFill>
                <a:latin typeface="Calibri"/>
              </a:rPr>
              <a:t>Translated tips weekly+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5284" y="1207008"/>
            <a:ext cx="2647188" cy="102412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15284" y="1207008"/>
            <a:ext cx="2647188" cy="45720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6724" y="1371600"/>
            <a:ext cx="24825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D6E56"/>
                </a:solidFill>
                <a:latin typeface="Calibri"/>
              </a:rPr>
              <a:t>78.3%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8436" y="1773936"/>
            <a:ext cx="25374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774"/>
                </a:solidFill>
                <a:latin typeface="Calibri"/>
              </a:rPr>
              <a:t>Use posts as input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0488" y="1207008"/>
            <a:ext cx="2647188" cy="102412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0488" y="1207008"/>
            <a:ext cx="2647188" cy="45720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1371600"/>
            <a:ext cx="24825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D6E56"/>
                </a:solidFill>
                <a:latin typeface="Calibri"/>
              </a:rPr>
              <a:t>31.7%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73936"/>
            <a:ext cx="25374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774"/>
                </a:solidFill>
                <a:latin typeface="Calibri"/>
              </a:rPr>
              <a:t>Rely on CN repost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5692" y="1207008"/>
            <a:ext cx="2647188" cy="102412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65692" y="1207008"/>
            <a:ext cx="2647188" cy="45720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57132" y="1371600"/>
            <a:ext cx="24825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D6E56"/>
                </a:solidFill>
                <a:latin typeface="Calibri"/>
              </a:rPr>
              <a:t>63.3%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8844" y="1773936"/>
            <a:ext cx="25374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774"/>
                </a:solidFill>
                <a:latin typeface="Calibri"/>
              </a:rPr>
              <a:t>Also read EN original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487168"/>
            <a:ext cx="10972800" cy="65836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2487168"/>
            <a:ext cx="73152" cy="658368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267004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F33"/>
                </a:solidFill>
                <a:latin typeface="Calibri"/>
              </a:rPr>
              <a:t>Consumption path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2670048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EN original 63%  ·  Self-translate 38%  ·  CN repost 32%  ·  Rarely use overseas 10%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264408"/>
            <a:ext cx="10972800" cy="65836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3264408"/>
            <a:ext cx="73152" cy="658368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344728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F33"/>
                </a:solidFill>
                <a:latin typeface="Calibri"/>
              </a:rPr>
              <a:t>EN analysis need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447288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Need translation / summary 40%  ·  Rely heavily 25%  ·  Mostly EN 22%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041647"/>
            <a:ext cx="10972800" cy="65836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4041647"/>
            <a:ext cx="73152" cy="658368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224527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F33"/>
                </a:solidFill>
                <a:latin typeface="Calibri"/>
              </a:rPr>
              <a:t>When they see posts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4224527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One input among several 75% — not blind copying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818887"/>
            <a:ext cx="10972800" cy="65836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" y="4818887"/>
            <a:ext cx="73152" cy="658368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001767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F33"/>
                </a:solidFill>
                <a:latin typeface="Calibri"/>
              </a:rPr>
              <a:t>Barrier to overseas tools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5001767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None 33%  ·  Access/VPN 20%  ·  Paywall 17%  ·  Unknown 15%  ·  Language 12%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446520"/>
            <a:ext cx="10972800" cy="13716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6510528"/>
            <a:ext cx="8412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774"/>
                </a:solidFill>
                <a:latin typeface="Calibri"/>
              </a:rPr>
              <a:t>FALEAGUE AI  ·  Confidential  ·  Scout discussion  ·  8/17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651052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774"/>
                </a:solidFill>
                <a:latin typeface="Calibri"/>
              </a:rPr>
              <a:t>v2  ·  Survey evidence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6E56"/>
                </a:solidFill>
                <a:latin typeface="Calibri"/>
              </a:rPr>
              <a:t>EVIDENCE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Calibri"/>
              </a:rPr>
              <a:t>Jobs, formats &amp; willingness to pay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87552"/>
            <a:ext cx="1051560" cy="36576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07008"/>
            <a:ext cx="3611880" cy="3154680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07008"/>
            <a:ext cx="3611880" cy="54864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4356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F33"/>
                </a:solidFill>
                <a:latin typeface="Calibri"/>
              </a:rPr>
              <a:t>Hardest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92808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C242E"/>
                </a:solidFill>
                <a:latin typeface="Calibri"/>
              </a:rPr>
              <a:t>•  Transfers — 67%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C242E"/>
                </a:solidFill>
                <a:latin typeface="Calibri"/>
              </a:rPr>
              <a:t>•  Bench order — 40%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C242E"/>
                </a:solidFill>
                <a:latin typeface="Calibri"/>
              </a:rPr>
              <a:t>•  Captain — 38%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C242E"/>
                </a:solidFill>
                <a:latin typeface="Calibri"/>
              </a:rPr>
              <a:t>•  Differentials — 25%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207008"/>
            <a:ext cx="3611880" cy="3154680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207008"/>
            <a:ext cx="3611880" cy="54864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4356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F33"/>
                </a:solidFill>
                <a:latin typeface="Calibri"/>
              </a:rPr>
              <a:t>Preferred CN formats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92808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C242E"/>
                </a:solidFill>
                <a:latin typeface="Calibri"/>
              </a:rPr>
              <a:t>•  Short daily card — 58%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C242E"/>
                </a:solidFill>
                <a:latin typeface="Calibri"/>
              </a:rPr>
              <a:t>•  Long analysis — 45%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C242E"/>
                </a:solidFill>
                <a:latin typeface="Calibri"/>
              </a:rPr>
              <a:t>•  Data tables — 32%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C242E"/>
                </a:solidFill>
                <a:latin typeface="Calibri"/>
              </a:rPr>
              <a:t>•  Short video — 17%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207008"/>
            <a:ext cx="3611880" cy="3154680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207008"/>
            <a:ext cx="3611880" cy="54864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4356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F33"/>
                </a:solidFill>
                <a:latin typeface="Calibri"/>
              </a:rPr>
              <a:t>WTP (CNY / month)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892808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C242E"/>
                </a:solidFill>
                <a:latin typeface="Calibri"/>
              </a:rPr>
              <a:t>•  Won’t pay — 55%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C242E"/>
                </a:solidFill>
                <a:latin typeface="Calibri"/>
              </a:rPr>
              <a:t>•  &lt; ¥20 — 30%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C242E"/>
                </a:solidFill>
                <a:latin typeface="Calibri"/>
              </a:rPr>
              <a:t>•  ¥20–40 — 8%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C242E"/>
                </a:solidFill>
                <a:latin typeface="Calibri"/>
              </a:rPr>
              <a:t>•  Prefer annual — 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solidFill>
            <a:srgbClr val="E6F2EE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5212080"/>
            <a:ext cx="73152" cy="914400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340096"/>
            <a:ext cx="10607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1F33"/>
                </a:solidFill>
                <a:latin typeface="Calibri"/>
              </a:rPr>
              <a:t>Commercial read: any paid intent 45%; ¥20+/mo or annual only 15%. Lead with free attributed content; keep China pricing careful. Top paid-tool intents: squad-tied AI 28%, transfer planner 20%.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46520"/>
            <a:ext cx="10972800" cy="13716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8412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774"/>
                </a:solidFill>
                <a:latin typeface="Calibri"/>
              </a:rPr>
              <a:t>FALEAGUE AI  ·  Confidential  ·  Scout discussion  ·  9/17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651052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774"/>
                </a:solidFill>
                <a:latin typeface="Calibri"/>
              </a:rPr>
              <a:t>v2  ·  Survey evidence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6E56"/>
                </a:solidFill>
                <a:latin typeface="Calibri"/>
              </a:rPr>
              <a:t>EVIDENCE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Calibri"/>
              </a:rPr>
              <a:t>Demand for an attributed Chinese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87552"/>
            <a:ext cx="1051560" cy="36576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07008"/>
            <a:ext cx="2647188" cy="102412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07008"/>
            <a:ext cx="2647188" cy="45720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24825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D6E56"/>
                </a:solidFill>
                <a:latin typeface="Calibri"/>
              </a:rPr>
              <a:t>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73936"/>
            <a:ext cx="25374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774"/>
                </a:solidFill>
                <a:latin typeface="Calibri"/>
              </a:rPr>
              <a:t>Interested in CN hub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5284" y="1207008"/>
            <a:ext cx="2647188" cy="102412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15284" y="1207008"/>
            <a:ext cx="2647188" cy="45720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6724" y="1371600"/>
            <a:ext cx="24825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D6E56"/>
                </a:solidFill>
                <a:latin typeface="Calibri"/>
              </a:rPr>
              <a:t>35%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8436" y="1773936"/>
            <a:ext cx="25374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774"/>
                </a:solidFill>
                <a:latin typeface="Calibri"/>
              </a:rPr>
              <a:t>Follow or consider paid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0488" y="1207008"/>
            <a:ext cx="2647188" cy="102412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0488" y="1207008"/>
            <a:ext cx="2647188" cy="45720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1371600"/>
            <a:ext cx="24825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D6E56"/>
                </a:solidFill>
                <a:latin typeface="Calibri"/>
              </a:rPr>
              <a:t>27%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73936"/>
            <a:ext cx="25374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774"/>
                </a:solidFill>
                <a:latin typeface="Calibri"/>
              </a:rPr>
              <a:t>Quality-first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5692" y="1207008"/>
            <a:ext cx="2647188" cy="102412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65692" y="1207008"/>
            <a:ext cx="2647188" cy="45720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57132" y="1371600"/>
            <a:ext cx="24825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D6E56"/>
                </a:solidFill>
                <a:latin typeface="Calibri"/>
              </a:rPr>
              <a:t>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8844" y="1773936"/>
            <a:ext cx="25374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774"/>
                </a:solidFill>
                <a:latin typeface="Calibri"/>
              </a:rPr>
              <a:t>Need depth ≥ original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441448"/>
            <a:ext cx="10972800" cy="3657600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26243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1F33"/>
                </a:solidFill>
                <a:latin typeface="Calibri"/>
              </a:rPr>
              <a:t>Trust conditions for a partnership (Q25)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127248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Depth ≥ overseas original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3200400"/>
            <a:ext cx="5669280" cy="201168"/>
          </a:xfrm>
          <a:prstGeom prst="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846320" y="3200400"/>
            <a:ext cx="3401568" cy="201168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07040" y="312724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60%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630168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Stable weekly cadence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3703320"/>
            <a:ext cx="5669280" cy="201168"/>
          </a:xfrm>
          <a:prstGeom prst="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846320" y="3703320"/>
            <a:ext cx="2664561" cy="201168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607040" y="363016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47%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133088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High-quality translation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4206240"/>
            <a:ext cx="5669280" cy="201168"/>
          </a:xfrm>
          <a:prstGeom prst="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846320" y="4206240"/>
            <a:ext cx="2664561" cy="201168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07040" y="4133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47%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636008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Clear source attribution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4709160"/>
            <a:ext cx="5669280" cy="201168"/>
          </a:xfrm>
          <a:prstGeom prst="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46320" y="4709160"/>
            <a:ext cx="2437790" cy="201168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607040" y="463600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43%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138928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Fair China pricing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5212080"/>
            <a:ext cx="5669280" cy="201168"/>
          </a:xfrm>
          <a:prstGeom prst="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846320" y="5212080"/>
            <a:ext cx="1417320" cy="201168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607040" y="513892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25%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6446520"/>
            <a:ext cx="10972800" cy="13716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6510528"/>
            <a:ext cx="8412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774"/>
                </a:solidFill>
                <a:latin typeface="Calibri"/>
              </a:rPr>
              <a:t>FALEAGUE AI  ·  Confidential  ·  Scout discussion  ·  10/17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651052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774"/>
                </a:solidFill>
                <a:latin typeface="Calibri"/>
              </a:rPr>
              <a:t>v2  ·  Survey evidence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6E56"/>
                </a:solidFill>
                <a:latin typeface="Calibri"/>
              </a:rPr>
              <a:t>EVIDENCE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Calibri"/>
              </a:rPr>
              <a:t>Unaided trust names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87552"/>
            <a:ext cx="1051560" cy="36576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774"/>
                </a:solidFill>
                <a:latin typeface="Calibri"/>
              </a:rPr>
              <a:t>Q7 open answers · n=34 usable · brands were not prompted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C242E"/>
                </a:solidFill>
                <a:latin typeface="Calibri"/>
              </a:rPr>
              <a:t>•  Creators dominate recall: FPL Harry ~32% of answered opens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C242E"/>
                </a:solidFill>
                <a:latin typeface="Calibri"/>
              </a:rPr>
              <a:t>•  Also mentioned: All About Fantasy, FPL Focal, FPL Gameweek, Andy, Big Man, Sam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C242E"/>
                </a:solidFill>
                <a:latin typeface="Calibri"/>
              </a:rPr>
              <a:t>•  Fantasy Football Scout / FFS appears in 3 answers (~9% of answered)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C242E"/>
                </a:solidFill>
                <a:latin typeface="Calibri"/>
              </a:rPr>
              <a:t>•  Interpretation: Scout has unaided presence for some managers — not a mass awareness claim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C242E"/>
                </a:solidFill>
                <a:latin typeface="Calibri"/>
              </a:rPr>
              <a:t>•  Opportunity: be the attributed research brand behind Chinese packaging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74920"/>
            <a:ext cx="10972800" cy="1005840"/>
          </a:xfrm>
          <a:prstGeom prst="rect">
            <a:avLst/>
          </a:prstGeom>
          <a:solidFill>
            <a:srgbClr val="FBF3E0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73152" cy="1005840"/>
          </a:xfrm>
          <a:prstGeom prst="rect">
            <a:avLst/>
          </a:prstGeom>
          <a:solidFill>
            <a:srgbClr val="8A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202936"/>
            <a:ext cx="10607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1F33"/>
                </a:solidFill>
                <a:latin typeface="Calibri"/>
              </a:rPr>
              <a:t>Recommended language: “Scout already appears in some unaided trust lists.” Do not state a national awareness percentage from this sample.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72800" cy="13716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8412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774"/>
                </a:solidFill>
                <a:latin typeface="Calibri"/>
              </a:rPr>
              <a:t>FALEAGUE AI  ·  Confidential  ·  Scout discussion  ·  11/17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651052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774"/>
                </a:solidFill>
                <a:latin typeface="Calibri"/>
              </a:rPr>
              <a:t>v2  ·  Survey evidence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6E56"/>
                </a:solidFill>
                <a:latin typeface="Calibri"/>
              </a:rPr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Calibri"/>
              </a:rPr>
              <a:t>What FALEAGUE has built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87552"/>
            <a:ext cx="1051560" cy="36576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07008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C242E"/>
                </a:solidFill>
                <a:latin typeface="Calibri"/>
              </a:rPr>
              <a:t>•  Live hub: faleague-ai.com (EN + ZH)  ·  sister community faleague.cn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C242E"/>
                </a:solidFill>
                <a:latin typeface="Calibri"/>
              </a:rPr>
              <a:t>•  Tool-grounded AI analyst + Insights research tables + Entry ID planner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C242E"/>
                </a:solidFill>
                <a:latin typeface="Calibri"/>
              </a:rPr>
              <a:t>•  WeChat pipelines: daily cards, Best of Position hooks, 小程序 shell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C242E"/>
                </a:solidFill>
                <a:latin typeface="Calibri"/>
              </a:rPr>
              <a:t>•  Survey alignment: respondents want short daily cards + tables — matches our distribution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C242E"/>
                </a:solidFill>
                <a:latin typeface="Calibri"/>
              </a:rPr>
              <a:t>•  We already cite Scout in Chinese digests — amplifying quality signal into WeChat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C242E"/>
                </a:solidFill>
                <a:latin typeface="Calibri"/>
              </a:rPr>
              <a:t>•  Not claiming Opta parity — China-facing product and distribution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72800" cy="13716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8412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774"/>
                </a:solidFill>
                <a:latin typeface="Calibri"/>
              </a:rPr>
              <a:t>FALEAGUE AI  ·  Confidential  ·  Scout discussion  ·  12/17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51052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774"/>
                </a:solidFill>
                <a:latin typeface="Calibri"/>
              </a:rPr>
              <a:t>v2  ·  Survey evidence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6E56"/>
                </a:solidFill>
                <a:latin typeface="Calibri"/>
              </a:rPr>
              <a:t>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Calibri"/>
              </a:rPr>
              <a:t>Options — updated by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87552"/>
            <a:ext cx="1051560" cy="36576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07008"/>
            <a:ext cx="10972800" cy="868680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07008"/>
            <a:ext cx="73152" cy="868680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34416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6E56"/>
                </a:solidFill>
                <a:latin typeface="Calibri"/>
              </a:rPr>
              <a:t>A  ·  Recommended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316736"/>
            <a:ext cx="7223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Calibri"/>
              </a:rPr>
              <a:t>Content &amp; attribution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664208"/>
            <a:ext cx="7223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774"/>
                </a:solidFill>
                <a:latin typeface="Calibri"/>
              </a:rPr>
              <a:t>Scout-approved Chinese WeChat / XHS cards with clear source and link-back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212848"/>
            <a:ext cx="10972800" cy="868680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2212848"/>
            <a:ext cx="73152" cy="868680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35000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6E56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322576"/>
            <a:ext cx="7223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Calibri"/>
              </a:rPr>
              <a:t>Co-branded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670048"/>
            <a:ext cx="7223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774"/>
                </a:solidFill>
                <a:latin typeface="Calibri"/>
              </a:rPr>
              <a:t>Scout editorial judgement + FALEAGUE bilingual Insights 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18688"/>
            <a:ext cx="10972800" cy="868680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218688"/>
            <a:ext cx="73152" cy="868680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35584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6E56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328416"/>
            <a:ext cx="7223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Calibri"/>
              </a:rPr>
              <a:t>Membership funnel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675888"/>
            <a:ext cx="7223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774"/>
                </a:solidFill>
                <a:latin typeface="Calibri"/>
              </a:rPr>
              <a:t>Soft CTA to Scout membership for advanced bilingual managers; unique links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24528"/>
            <a:ext cx="10972800" cy="868680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224528"/>
            <a:ext cx="73152" cy="868680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36168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6E56"/>
                </a:solidFill>
                <a:latin typeface="Calibri"/>
              </a:rPr>
              <a:t>D  ·  Complete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334256"/>
            <a:ext cx="7223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Calibri"/>
              </a:rPr>
              <a:t>Joint research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681728"/>
            <a:ext cx="7223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774"/>
                </a:solidFill>
                <a:latin typeface="Calibri"/>
              </a:rPr>
              <a:t>Unbranded survey done; optional later co-published China-lens note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46520"/>
            <a:ext cx="10972800" cy="13716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8412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774"/>
                </a:solidFill>
                <a:latin typeface="Calibri"/>
              </a:rPr>
              <a:t>FALEAGUE AI  ·  Confidential  ·  Scout discussion  ·  13/17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651052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774"/>
                </a:solidFill>
                <a:latin typeface="Calibri"/>
              </a:rPr>
              <a:t>v2  ·  Survey evidence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6E56"/>
                </a:solidFill>
                <a:latin typeface="Calibri"/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Calibri"/>
              </a:rPr>
              <a:t>Proposed next 90 days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87552"/>
            <a:ext cx="1051560" cy="36576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07008"/>
            <a:ext cx="1097280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28016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When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80160"/>
            <a:ext cx="5669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28016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Success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572768"/>
            <a:ext cx="10972800" cy="713232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177393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73936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Unbranded survey fielded and analysed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773936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This evidence deck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286000"/>
            <a:ext cx="10972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248716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Weeks 1–2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487168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Align attribution rules; pick 2–3 safe content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48716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Written one-pager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999232"/>
            <a:ext cx="10972800" cy="713232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Weeks 2–6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20040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Ship attributed WeChat / XHS cards with unique links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200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CTR / deep-link opens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12464"/>
            <a:ext cx="10972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91363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Weeks 6–10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913632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Optional co-branded Insights asset for a key GW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9136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Engagement + qualitative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425696"/>
            <a:ext cx="10972800" cy="713232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4626864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6E56"/>
                </a:solidFill>
                <a:latin typeface="Calibri"/>
              </a:rPr>
              <a:t>Weeks 10–12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626864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Review: expand, membership test, or stop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626864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C242E"/>
                </a:solidFill>
                <a:latin typeface="Calibri"/>
              </a:rPr>
              <a:t>Go / no-go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46520"/>
            <a:ext cx="10972800" cy="13716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8412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774"/>
                </a:solidFill>
                <a:latin typeface="Calibri"/>
              </a:rPr>
              <a:t>FALEAGUE AI  ·  Confidential  ·  Scout discussion  ·  14/17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651052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774"/>
                </a:solidFill>
                <a:latin typeface="Calibri"/>
              </a:rPr>
              <a:t>v2  ·  Survey evidence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6E56"/>
                </a:solidFill>
                <a:latin typeface="Calibri"/>
              </a:rPr>
              <a:t>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Calibri"/>
              </a:rPr>
              <a:t>What we need from this conversation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87552"/>
            <a:ext cx="1051560" cy="36576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07008"/>
            <a:ext cx="10972800" cy="65836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38988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D6E56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389888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242E"/>
                </a:solidFill>
                <a:latin typeface="Calibri"/>
              </a:rPr>
              <a:t>Interest in a time-boxed attributed content pilot (Option 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84248"/>
            <a:ext cx="10972800" cy="65836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16712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D6E56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67128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242E"/>
                </a:solidFill>
                <a:latin typeface="Calibri"/>
              </a:rPr>
              <a:t>A single point of contact for brand and content approval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61488"/>
            <a:ext cx="10972800" cy="65836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9443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D6E56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944368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242E"/>
                </a:solidFill>
                <a:latin typeface="Calibri"/>
              </a:rPr>
              <a:t>Clarity on what must never be localised without editorial control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38728"/>
            <a:ext cx="10972800" cy="65836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72160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D6E56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721608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242E"/>
                </a:solidFill>
                <a:latin typeface="Calibri"/>
              </a:rPr>
              <a:t>Whether brand reach alone is the goal, or membership / licensing later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315968"/>
            <a:ext cx="10972800" cy="658368"/>
          </a:xfrm>
          <a:prstGeom prst="rect">
            <a:avLst/>
          </a:prstGeom>
          <a:solidFill>
            <a:srgbClr val="F7F8FA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4988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D6E56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498848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242E"/>
                </a:solidFill>
                <a:latin typeface="Calibri"/>
              </a:rPr>
              <a:t>Optional: comfort citing this survey as joint directional research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46520"/>
            <a:ext cx="10972800" cy="13716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8412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774"/>
                </a:solidFill>
                <a:latin typeface="Calibri"/>
              </a:rPr>
              <a:t>FALEAGUE AI  ·  Confidential  ·  Scout discussion  ·  15/17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651052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774"/>
                </a:solidFill>
                <a:latin typeface="Calibri"/>
              </a:rPr>
              <a:t>v2  ·  Survey evidence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6E56"/>
                </a:solidFill>
                <a:latin typeface="Calibri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3"/>
                </a:solidFill>
                <a:latin typeface="Calibri"/>
              </a:rPr>
              <a:t>Prompts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87552"/>
            <a:ext cx="1051560" cy="36576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07008"/>
            <a:ext cx="10972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07008"/>
            <a:ext cx="73152" cy="713232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389888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242E"/>
                </a:solidFill>
                <a:latin typeface="Calibri"/>
              </a:rPr>
              <a:t>Is China a strategic priority for Scout over the next 12–24 months, or opportunistic?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29968"/>
            <a:ext cx="10972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029968"/>
            <a:ext cx="73152" cy="713232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212848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242E"/>
                </a:solidFill>
                <a:latin typeface="Calibri"/>
              </a:rPr>
              <a:t>Does 80% hub interest plus WeChat distribution change that priority?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52928"/>
            <a:ext cx="10972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852928"/>
            <a:ext cx="73152" cy="713232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035808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242E"/>
                </a:solidFill>
                <a:latin typeface="Calibri"/>
              </a:rPr>
              <a:t>How should Scout show up relative to the creator layer (Harry et al. dominate unaided recall)?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675888"/>
            <a:ext cx="10972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675888"/>
            <a:ext cx="73152" cy="713232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858768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242E"/>
                </a:solidFill>
                <a:latin typeface="Calibri"/>
              </a:rPr>
              <a:t>What commercial path is acceptable given ¥ price sensitivity?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498848"/>
            <a:ext cx="10972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4498848"/>
            <a:ext cx="73152" cy="713232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681728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242E"/>
                </a:solidFill>
                <a:latin typeface="Calibri"/>
              </a:rPr>
              <a:t>Who would own the pilot internally if we proceed?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46520"/>
            <a:ext cx="10972800" cy="13716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8412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774"/>
                </a:solidFill>
                <a:latin typeface="Calibri"/>
              </a:rPr>
              <a:t>FALEAGUE AI  ·  Confidential  ·  Scout discussion  ·  16/17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651052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774"/>
                </a:solidFill>
                <a:latin typeface="Calibri"/>
              </a:rPr>
              <a:t>v2  ·  Survey evidence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1371600" cy="45720"/>
          </a:xfrm>
          <a:prstGeom prst="rect">
            <a:avLst/>
          </a:prstGeom>
          <a:solidFill>
            <a:srgbClr val="0D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8231869" cy="11439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</a:pPr>
            <a:r>
              <a:rPr sz="1500" b="0" dirty="0">
                <a:solidFill>
                  <a:srgbClr val="D0DAE2"/>
                </a:solidFill>
                <a:latin typeface="Calibri"/>
              </a:rPr>
              <a:t>•  Scout = trust and depth  ·  FALEAGUE = bilingual product + WeChat China </a:t>
            </a:r>
            <a:r>
              <a:rPr sz="1500" b="0" dirty="0" smtClean="0">
                <a:solidFill>
                  <a:srgbClr val="D0DAE2"/>
                </a:solidFill>
                <a:latin typeface="Calibri"/>
              </a:rPr>
              <a:t>distribution</a:t>
            </a:r>
            <a:r>
              <a:rPr lang="en-US" sz="1500" b="0" dirty="0" smtClean="0">
                <a:solidFill>
                  <a:srgbClr val="D0DAE2"/>
                </a:solidFill>
                <a:latin typeface="Calibri"/>
              </a:rPr>
              <a:t> + XHS post feeds</a:t>
            </a:r>
            <a:endParaRPr sz="1500" b="0" dirty="0">
              <a:solidFill>
                <a:srgbClr val="D0DAE2"/>
              </a:solidFill>
              <a:latin typeface="Calibri"/>
            </a:endParaRPr>
          </a:p>
          <a:p>
            <a:pPr>
              <a:spcAft>
                <a:spcPts val="1400"/>
              </a:spcAft>
            </a:pPr>
            <a:r>
              <a:rPr sz="1500" b="0" dirty="0">
                <a:solidFill>
                  <a:srgbClr val="D0DAE2"/>
                </a:solidFill>
                <a:latin typeface="Calibri"/>
              </a:rPr>
              <a:t>•  Evidence: overseas signal is consumed; WeChat is the habit loop; hub demand is real</a:t>
            </a:r>
          </a:p>
          <a:p>
            <a:pPr>
              <a:spcAft>
                <a:spcPts val="1400"/>
              </a:spcAft>
            </a:pPr>
            <a:r>
              <a:rPr sz="1500" b="0" dirty="0">
                <a:solidFill>
                  <a:srgbClr val="D0DAE2"/>
                </a:solidFill>
                <a:latin typeface="Calibri"/>
              </a:rPr>
              <a:t>•  Ask: a reversible attributed content pilot — not a big-bang JV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709160"/>
            <a:ext cx="10972800" cy="1325880"/>
          </a:xfrm>
          <a:prstGeom prst="rect">
            <a:avLst/>
          </a:prstGeom>
          <a:solidFill>
            <a:srgbClr val="15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892040"/>
            <a:ext cx="6654963" cy="866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0D6E56"/>
                </a:solidFill>
                <a:latin typeface="Calibri"/>
              </a:rPr>
              <a:t>Evidence one-liner</a:t>
            </a:r>
          </a:p>
          <a:p>
            <a:pPr>
              <a:spcBef>
                <a:spcPts val="800"/>
              </a:spcBef>
            </a:pPr>
            <a:r>
              <a:rPr sz="1300" b="0" dirty="0">
                <a:solidFill>
                  <a:srgbClr val="FFFFFF"/>
                </a:solidFill>
                <a:latin typeface="Calibri"/>
              </a:rPr>
              <a:t>In this WeChat sample (focus n=60), 67% use overseas FPL sources, 92% live in WeChat groups, </a:t>
            </a:r>
            <a:endParaRPr lang="en-US" sz="1300" b="0" dirty="0" smtClean="0">
              <a:solidFill>
                <a:srgbClr val="FFFFFF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300" b="0" dirty="0" smtClean="0">
                <a:solidFill>
                  <a:srgbClr val="FFFFFF"/>
                </a:solidFill>
                <a:latin typeface="Calibri"/>
              </a:rPr>
              <a:t>and 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80% want an attributed Chinese hub — pricing must stay careful in ¥.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A9AA8"/>
                </a:solidFill>
                <a:latin typeface="Calibri"/>
              </a:rPr>
              <a:t>Thank you  ·  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1515</Words>
  <Application>Microsoft Office PowerPoint</Application>
  <PresentationFormat>宽屏</PresentationFormat>
  <Paragraphs>271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2026-08-10T07:52:09Z</dcterms:modified>
  <cp:category/>
</cp:coreProperties>
</file>