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6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5156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0F1C2E"/>
                </a:solidFill>
                <a:latin typeface="Calibri"/>
              </a:rPr>
              <a:t>FPL in China × Fantasy Football Scout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83464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0B6E4F"/>
                </a:solidFill>
                <a:latin typeface="Calibri"/>
              </a:rPr>
              <a:t>Collaboration deck v2 — with survey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6616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Presenter: Ray Wong · FALEAGUE AI / Faleague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Product: faleague-ai.com  ·  Sister: faleague.cn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Survey: Wenjuanxing · n=65 (WeChat) · Focus Greater China + SG/MY n=60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Brand names were hidden in fielding to reduce bias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C6773"/>
                </a:solidFill>
                <a:latin typeface="Calibri"/>
              </a:rPr>
              <a:t>FALEAGUE AI  ·  Scout conversation deck v2 (survey evidence)  ·  1/18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6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F1C2E"/>
                </a:solidFill>
                <a:latin typeface="Calibr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41248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C6773"/>
                </a:solidFill>
                <a:latin typeface="Calibri"/>
              </a:rPr>
              <a:t>≈25 min +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Mutual fit — Scout trust/depth × FALEAGUE China distribution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Market reality (no invented China FPL headcount)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Survey evidence: sources, translation bridge, WTP, hub interest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Product snapshot + collaboration options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Proposed next step: attributed content pilot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C6773"/>
                </a:solidFill>
                <a:latin typeface="Calibri"/>
              </a:rPr>
              <a:t>FALEAGUE AI  ·  Scout conversation deck v2 (survey evidence)  ·  2/18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6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F1C2E"/>
                </a:solidFill>
                <a:latin typeface="Calibri"/>
              </a:rPr>
              <a:t>1 · Why we’re talking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Scout is the category authority for serious FPL managers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We built a live bilingual product with WeChat-native distribution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We fielded an unbranded survey first — this deck returns with evidence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Ask: does a light, attributed China channel create value for Scout?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4754880"/>
            <a:ext cx="10789920" cy="1005840"/>
          </a:xfrm>
          <a:prstGeom prst="rect">
            <a:avLst/>
          </a:prstGeom>
          <a:solidFill>
            <a:srgbClr val="F4F6F8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0F1C2E"/>
                </a:solidFill>
                <a:latin typeface="Calibri"/>
              </a:rPr>
              <a:t>One line: Scout owns trust and depth. We own China access and product distribution. Survey shows the bridge already exists — mostly unofficial.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C6773"/>
                </a:solidFill>
                <a:latin typeface="Calibri"/>
              </a:rPr>
              <a:t>FALEAGUE AI  ·  Scout conversation deck v2 (survey evidence)  ·  3/18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6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F1C2E"/>
                </a:solidFill>
                <a:latin typeface="Calibri"/>
              </a:rPr>
              <a:t>2 · Market reality (realistic framing)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Global FPL: ~11.5M (24/25) → ~13M+ reported (25/26) — order of magnitude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Official China FPL manager census is NOT published — we will not invent one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Proxy only: China fantasy sports ~USD 1.2B (2024), high-teens CAGR (industry reports) — not FPL revenue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PL fandom in China is mass historically; FPL conversion is the open question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This survey sizes behaviour &amp; WTP in a WeChat-recruited cohort — not national population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C6773"/>
                </a:solidFill>
                <a:latin typeface="Calibri"/>
              </a:rPr>
              <a:t>FALEAGUE AI  ·  Scout conversation deck v2 (survey evidence)  ·  4/18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6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F1C2E"/>
                </a:solidFill>
                <a:latin typeface="Calibri"/>
              </a:rPr>
              <a:t>3 · The China gap (thesis we tested)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Chinese FPLers pull recommendations from overseas creators/sites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Local creators often translate/rewrite that content onto WeChat / 小红书 / short video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Signal already reaches China — often with weak or missing brand attribution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Strategic question for Scout: stay unofficial &amp; uncontrolled, or become attributed + quality-controlled?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Survey was designed to validate this bridge without naming partner brands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C6773"/>
                </a:solidFill>
                <a:latin typeface="Calibri"/>
              </a:rPr>
              <a:t>FALEAGUE AI  ·  Scout conversation deck v2 (survey evidence)  ·  5/18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6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F1C2E"/>
                </a:solidFill>
                <a:latin typeface="Calibri"/>
              </a:rPr>
              <a:t>4 · Survey evidence — sample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41248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C6773"/>
                </a:solidFill>
                <a:latin typeface="Calibri"/>
              </a:rPr>
              <a:t>Wenjuanxing · Aug 2026 · unbranded fielding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80160"/>
            <a:ext cx="2679191" cy="960120"/>
          </a:xfrm>
          <a:prstGeom prst="rect">
            <a:avLst/>
          </a:prstGeom>
          <a:solidFill>
            <a:srgbClr val="F4F6F8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0B6E4F"/>
                </a:solidFill>
                <a:latin typeface="Calibri"/>
              </a:rPr>
              <a:t>65</a:t>
            </a:r>
          </a:p>
          <a:p>
            <a:pPr algn="ctr"/>
            <a:r>
              <a:rPr sz="1100" b="0">
                <a:solidFill>
                  <a:srgbClr val="5C6773"/>
                </a:solidFill>
                <a:latin typeface="Calibri"/>
              </a:rPr>
              <a:t>Total responses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91839" y="1280160"/>
            <a:ext cx="2679191" cy="960120"/>
          </a:xfrm>
          <a:prstGeom prst="rect">
            <a:avLst/>
          </a:prstGeom>
          <a:solidFill>
            <a:srgbClr val="F4F6F8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0B6E4F"/>
                </a:solidFill>
                <a:latin typeface="Calibri"/>
              </a:rPr>
              <a:t>60</a:t>
            </a:r>
          </a:p>
          <a:p>
            <a:pPr algn="ctr"/>
            <a:r>
              <a:rPr sz="1100" b="0">
                <a:solidFill>
                  <a:srgbClr val="5C6773"/>
                </a:solidFill>
                <a:latin typeface="Calibri"/>
              </a:rPr>
              <a:t>Greater China + SG/MY</a:t>
            </a:r>
          </a:p>
        </p:txBody>
      </p:sp>
      <p:sp>
        <p:nvSpPr>
          <p:cNvPr id="8" name="Rectangle 7"/>
          <p:cNvSpPr/>
          <p:nvPr/>
        </p:nvSpPr>
        <p:spPr>
          <a:xfrm>
            <a:off x="6080759" y="1280160"/>
            <a:ext cx="2679191" cy="960120"/>
          </a:xfrm>
          <a:prstGeom prst="rect">
            <a:avLst/>
          </a:prstGeom>
          <a:solidFill>
            <a:srgbClr val="F4F6F8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0B6E4F"/>
                </a:solidFill>
                <a:latin typeface="Calibri"/>
              </a:rPr>
              <a:t>100%</a:t>
            </a:r>
          </a:p>
          <a:p>
            <a:pPr algn="ctr"/>
            <a:r>
              <a:rPr sz="1100" b="0">
                <a:solidFill>
                  <a:srgbClr val="5C6773"/>
                </a:solidFill>
                <a:latin typeface="Calibri"/>
              </a:rPr>
              <a:t>Recruited via WeChat</a:t>
            </a:r>
          </a:p>
        </p:txBody>
      </p:sp>
      <p:sp>
        <p:nvSpPr>
          <p:cNvPr id="9" name="Rectangle 8"/>
          <p:cNvSpPr/>
          <p:nvPr/>
        </p:nvSpPr>
        <p:spPr>
          <a:xfrm>
            <a:off x="8869680" y="1280160"/>
            <a:ext cx="2679191" cy="960120"/>
          </a:xfrm>
          <a:prstGeom prst="rect">
            <a:avLst/>
          </a:prstGeom>
          <a:solidFill>
            <a:srgbClr val="F4F6F8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0B6E4F"/>
                </a:solidFill>
                <a:latin typeface="Calibri"/>
              </a:rPr>
              <a:t>78%</a:t>
            </a:r>
          </a:p>
          <a:p>
            <a:pPr algn="ctr"/>
            <a:r>
              <a:rPr sz="1100" b="0">
                <a:solidFill>
                  <a:srgbClr val="5C6773"/>
                </a:solidFill>
                <a:latin typeface="Calibri"/>
              </a:rPr>
              <a:t>Bilingual content prefer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468880"/>
            <a:ext cx="10972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 Playing this season 66.7% · used to play 23.3%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 Tenure: 4–6 seasons 41.7% · 2–3 35% · 7+ 18.3% (experienced sample)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 Rank band: Top 100k 41.7% · Top 1M 38.3% · Top 10k 15%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 Age: 25–34 58.3% · 35–44 31.7%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 CAVEAT: convenience WeChat sample — directional behaviour evidence, NOT a China FPL census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C6773"/>
                </a:solidFill>
                <a:latin typeface="Calibri"/>
              </a:rPr>
              <a:t>FALEAGUE AI  ·  Scout conversation deck v2 (survey evidence)  ·  6/18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6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F1C2E"/>
                </a:solidFill>
                <a:latin typeface="Calibri"/>
              </a:rPr>
              <a:t>5 · How they get FPL information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41248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C6773"/>
                </a:solidFill>
                <a:latin typeface="Calibri"/>
              </a:rPr>
              <a:t>Focus n=60 · multi-select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80160"/>
            <a:ext cx="2679191" cy="960120"/>
          </a:xfrm>
          <a:prstGeom prst="rect">
            <a:avLst/>
          </a:prstGeom>
          <a:solidFill>
            <a:srgbClr val="F4F6F8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0B6E4F"/>
                </a:solidFill>
                <a:latin typeface="Calibri"/>
              </a:rPr>
              <a:t>66.7%</a:t>
            </a:r>
          </a:p>
          <a:p>
            <a:pPr algn="ctr"/>
            <a:r>
              <a:rPr sz="1100" b="0">
                <a:solidFill>
                  <a:srgbClr val="5C6773"/>
                </a:solidFill>
                <a:latin typeface="Calibri"/>
              </a:rPr>
              <a:t>Overseas site or creator</a:t>
            </a:r>
          </a:p>
        </p:txBody>
      </p:sp>
      <p:sp>
        <p:nvSpPr>
          <p:cNvPr id="7" name="Rectangle 6"/>
          <p:cNvSpPr/>
          <p:nvPr/>
        </p:nvSpPr>
        <p:spPr>
          <a:xfrm>
            <a:off x="3291839" y="1280160"/>
            <a:ext cx="2679191" cy="960120"/>
          </a:xfrm>
          <a:prstGeom prst="rect">
            <a:avLst/>
          </a:prstGeom>
          <a:solidFill>
            <a:srgbClr val="F4F6F8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0B6E4F"/>
                </a:solidFill>
                <a:latin typeface="Calibri"/>
              </a:rPr>
              <a:t>70%</a:t>
            </a:r>
          </a:p>
          <a:p>
            <a:pPr algn="ctr"/>
            <a:r>
              <a:rPr sz="1100" b="0">
                <a:solidFill>
                  <a:srgbClr val="5C6773"/>
                </a:solidFill>
                <a:latin typeface="Calibri"/>
              </a:rPr>
              <a:t>CN creators / 公众号</a:t>
            </a:r>
          </a:p>
        </p:txBody>
      </p:sp>
      <p:sp>
        <p:nvSpPr>
          <p:cNvPr id="8" name="Rectangle 7"/>
          <p:cNvSpPr/>
          <p:nvPr/>
        </p:nvSpPr>
        <p:spPr>
          <a:xfrm>
            <a:off x="6080759" y="1280160"/>
            <a:ext cx="2679191" cy="960120"/>
          </a:xfrm>
          <a:prstGeom prst="rect">
            <a:avLst/>
          </a:prstGeom>
          <a:solidFill>
            <a:srgbClr val="F4F6F8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0B6E4F"/>
                </a:solidFill>
                <a:latin typeface="Calibri"/>
              </a:rPr>
              <a:t>63.3%</a:t>
            </a:r>
          </a:p>
          <a:p>
            <a:pPr algn="ctr"/>
            <a:r>
              <a:rPr sz="1100" b="0">
                <a:solidFill>
                  <a:srgbClr val="5C6773"/>
                </a:solidFill>
                <a:latin typeface="Calibri"/>
              </a:rPr>
              <a:t>WeChat as source</a:t>
            </a:r>
          </a:p>
        </p:txBody>
      </p:sp>
      <p:sp>
        <p:nvSpPr>
          <p:cNvPr id="9" name="Rectangle 8"/>
          <p:cNvSpPr/>
          <p:nvPr/>
        </p:nvSpPr>
        <p:spPr>
          <a:xfrm>
            <a:off x="8869680" y="1280160"/>
            <a:ext cx="2679191" cy="960120"/>
          </a:xfrm>
          <a:prstGeom prst="rect">
            <a:avLst/>
          </a:prstGeom>
          <a:solidFill>
            <a:srgbClr val="F4F6F8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0B6E4F"/>
                </a:solidFill>
                <a:latin typeface="Calibri"/>
              </a:rPr>
              <a:t>91.7%</a:t>
            </a:r>
          </a:p>
          <a:p>
            <a:pPr algn="ctr"/>
            <a:r>
              <a:rPr sz="1100" b="0">
                <a:solidFill>
                  <a:srgbClr val="5C6773"/>
                </a:solidFill>
                <a:latin typeface="Calibri"/>
              </a:rPr>
              <a:t>Discuss in WeChat groups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468880"/>
            <a:ext cx="10972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 Regular sources: CN KOLs 70% · WeChat 63% · Official FPL 58% · Overseas creators 58%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 Overseas sites/tools 36.7% · Local translated/rewritten posts 36.7% · 小红书 26.7%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 Most important (top-3): Overseas creators 53.3% · CN creators 50% · Official 38% · WeChat 37%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 Implication: Scout-quality signal is valued; WeChat + CN packaging is the daily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C6773"/>
                </a:solidFill>
                <a:latin typeface="Calibri"/>
              </a:rPr>
              <a:t>FALEAGUE AI  ·  Scout conversation deck v2 (survey evidence)  ·  7/18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6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F1C2E"/>
                </a:solidFill>
                <a:latin typeface="Calibri"/>
              </a:rPr>
              <a:t>6 · The translation bridge — validated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80160"/>
            <a:ext cx="2679191" cy="960120"/>
          </a:xfrm>
          <a:prstGeom prst="rect">
            <a:avLst/>
          </a:prstGeom>
          <a:solidFill>
            <a:srgbClr val="F4F6F8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0B6E4F"/>
                </a:solidFill>
                <a:latin typeface="Calibri"/>
              </a:rPr>
              <a:t>46.7%</a:t>
            </a:r>
          </a:p>
          <a:p>
            <a:pPr algn="ctr"/>
            <a:r>
              <a:rPr sz="1100" b="0">
                <a:solidFill>
                  <a:srgbClr val="5C6773"/>
                </a:solidFill>
                <a:latin typeface="Calibri"/>
              </a:rPr>
              <a:t>See translated tips weekly+</a:t>
            </a:r>
          </a:p>
        </p:txBody>
      </p:sp>
      <p:sp>
        <p:nvSpPr>
          <p:cNvPr id="6" name="Rectangle 5"/>
          <p:cNvSpPr/>
          <p:nvPr/>
        </p:nvSpPr>
        <p:spPr>
          <a:xfrm>
            <a:off x="3291839" y="1280160"/>
            <a:ext cx="2679191" cy="960120"/>
          </a:xfrm>
          <a:prstGeom prst="rect">
            <a:avLst/>
          </a:prstGeom>
          <a:solidFill>
            <a:srgbClr val="F4F6F8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0B6E4F"/>
                </a:solidFill>
                <a:latin typeface="Calibri"/>
              </a:rPr>
              <a:t>78.3%</a:t>
            </a:r>
          </a:p>
          <a:p>
            <a:pPr algn="ctr"/>
            <a:r>
              <a:rPr sz="1100" b="0">
                <a:solidFill>
                  <a:srgbClr val="5C6773"/>
                </a:solidFill>
                <a:latin typeface="Calibri"/>
              </a:rPr>
              <a:t>Use those posts as input</a:t>
            </a:r>
          </a:p>
        </p:txBody>
      </p:sp>
      <p:sp>
        <p:nvSpPr>
          <p:cNvPr id="7" name="Rectangle 6"/>
          <p:cNvSpPr/>
          <p:nvPr/>
        </p:nvSpPr>
        <p:spPr>
          <a:xfrm>
            <a:off x="6080759" y="1280160"/>
            <a:ext cx="2679191" cy="960120"/>
          </a:xfrm>
          <a:prstGeom prst="rect">
            <a:avLst/>
          </a:prstGeom>
          <a:solidFill>
            <a:srgbClr val="F4F6F8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0B6E4F"/>
                </a:solidFill>
                <a:latin typeface="Calibri"/>
              </a:rPr>
              <a:t>31.7%</a:t>
            </a:r>
          </a:p>
          <a:p>
            <a:pPr algn="ctr"/>
            <a:r>
              <a:rPr sz="1100" b="0">
                <a:solidFill>
                  <a:srgbClr val="5C6773"/>
                </a:solidFill>
                <a:latin typeface="Calibri"/>
              </a:rPr>
              <a:t>Rely on CN repost path</a:t>
            </a:r>
          </a:p>
        </p:txBody>
      </p:sp>
      <p:sp>
        <p:nvSpPr>
          <p:cNvPr id="8" name="Rectangle 7"/>
          <p:cNvSpPr/>
          <p:nvPr/>
        </p:nvSpPr>
        <p:spPr>
          <a:xfrm>
            <a:off x="8869680" y="1280160"/>
            <a:ext cx="2679191" cy="960120"/>
          </a:xfrm>
          <a:prstGeom prst="rect">
            <a:avLst/>
          </a:prstGeom>
          <a:solidFill>
            <a:srgbClr val="F4F6F8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0B6E4F"/>
                </a:solidFill>
                <a:latin typeface="Calibri"/>
              </a:rPr>
              <a:t>63.3%</a:t>
            </a:r>
          </a:p>
          <a:p>
            <a:pPr algn="ctr"/>
            <a:r>
              <a:rPr sz="1100" b="0">
                <a:solidFill>
                  <a:srgbClr val="5C6773"/>
                </a:solidFill>
                <a:latin typeface="Calibri"/>
              </a:rPr>
              <a:t>Also read EN original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72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 Q8 path: EN original 63% · self-translate 38% · CN creator/repost 32% · rarely use overseas 10%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 Q9: need translation/summary 40% · rely heavily on EN 25% · mostly EN (skip) 22%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 Q16 when they see translated posts: one input among several 75% (not blind copy)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 Barriers to overseas tools: no barrier 33% · VPN/access 20% · paywall 17% · don’t know good ones 15% · language 12%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 Story: the unofficial bridge exists; attributed packaging is the upgrade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C6773"/>
                </a:solidFill>
                <a:latin typeface="Calibri"/>
              </a:rPr>
              <a:t>FALEAGUE AI  ·  Scout conversation deck v2 (survey evidence)  ·  8/18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6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F1C2E"/>
                </a:solidFill>
                <a:latin typeface="Calibri"/>
              </a:rPr>
              <a:t>7 · Jobs, formats &amp; willingness to pay (¥)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8016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 Hardest GW decisions: Transfers 67% · Bench 40% · Captain 38%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 Preferred CN formats: Short daily card 58% · Long analysis 45% · Interactive tables 32%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 Tools they’d pay for: Free-only 62% · Squad-tied AI 28% · Transfer planner 20%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 WeChat is the habit loop — short cards fit distribution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28016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 WTP (Q12): Won’t pay 55% · &lt;¥20/mo 30% · ¥20–40 8% · Prefer annual 7%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 Any paid intent: 45%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 ¥20+/mo or annual: only 15%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 Commercial read: start with free attributed content + light Pro; China pricing must be careful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C6773"/>
                </a:solidFill>
                <a:latin typeface="Calibri"/>
              </a:rPr>
              <a:t>FALEAGUE AI  ·  Scout conversation deck v2 (survey evidence)  ·  9/18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6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F1C2E"/>
                </a:solidFill>
                <a:latin typeface="Calibri"/>
              </a:rPr>
              <a:t>8 · Interest in attributed China hub / partnership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80160"/>
            <a:ext cx="2679191" cy="960120"/>
          </a:xfrm>
          <a:prstGeom prst="rect">
            <a:avLst/>
          </a:prstGeom>
          <a:solidFill>
            <a:srgbClr val="F4F6F8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0B6E4F"/>
                </a:solidFill>
                <a:latin typeface="Calibri"/>
              </a:rPr>
              <a:t>80%</a:t>
            </a:r>
          </a:p>
          <a:p>
            <a:pPr algn="ctr"/>
            <a:r>
              <a:rPr sz="1100" b="0">
                <a:solidFill>
                  <a:srgbClr val="5C6773"/>
                </a:solidFill>
                <a:latin typeface="Calibri"/>
              </a:rPr>
              <a:t>Want attributed CN hub</a:t>
            </a:r>
          </a:p>
        </p:txBody>
      </p:sp>
      <p:sp>
        <p:nvSpPr>
          <p:cNvPr id="6" name="Rectangle 5"/>
          <p:cNvSpPr/>
          <p:nvPr/>
        </p:nvSpPr>
        <p:spPr>
          <a:xfrm>
            <a:off x="3291839" y="1280160"/>
            <a:ext cx="2679191" cy="960120"/>
          </a:xfrm>
          <a:prstGeom prst="rect">
            <a:avLst/>
          </a:prstGeom>
          <a:solidFill>
            <a:srgbClr val="F4F6F8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0B6E4F"/>
                </a:solidFill>
                <a:latin typeface="Calibri"/>
              </a:rPr>
              <a:t>35%</a:t>
            </a:r>
          </a:p>
          <a:p>
            <a:pPr algn="ctr"/>
            <a:r>
              <a:rPr sz="1100" b="0">
                <a:solidFill>
                  <a:srgbClr val="5C6773"/>
                </a:solidFill>
                <a:latin typeface="Calibri"/>
              </a:rPr>
              <a:t>Follow or consider paid</a:t>
            </a:r>
          </a:p>
        </p:txBody>
      </p:sp>
      <p:sp>
        <p:nvSpPr>
          <p:cNvPr id="7" name="Rectangle 6"/>
          <p:cNvSpPr/>
          <p:nvPr/>
        </p:nvSpPr>
        <p:spPr>
          <a:xfrm>
            <a:off x="6080759" y="1280160"/>
            <a:ext cx="2679191" cy="960120"/>
          </a:xfrm>
          <a:prstGeom prst="rect">
            <a:avLst/>
          </a:prstGeom>
          <a:solidFill>
            <a:srgbClr val="F4F6F8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0B6E4F"/>
                </a:solidFill>
                <a:latin typeface="Calibri"/>
              </a:rPr>
              <a:t>26.7%</a:t>
            </a:r>
          </a:p>
          <a:p>
            <a:pPr algn="ctr"/>
            <a:r>
              <a:rPr sz="1100" b="0">
                <a:solidFill>
                  <a:srgbClr val="5C6773"/>
                </a:solidFill>
                <a:latin typeface="Calibri"/>
              </a:rPr>
              <a:t>Quality-first</a:t>
            </a:r>
          </a:p>
        </p:txBody>
      </p:sp>
      <p:sp>
        <p:nvSpPr>
          <p:cNvPr id="8" name="Rectangle 7"/>
          <p:cNvSpPr/>
          <p:nvPr/>
        </p:nvSpPr>
        <p:spPr>
          <a:xfrm>
            <a:off x="8869680" y="1280160"/>
            <a:ext cx="2679191" cy="960120"/>
          </a:xfrm>
          <a:prstGeom prst="rect">
            <a:avLst/>
          </a:prstGeom>
          <a:solidFill>
            <a:srgbClr val="F4F6F8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0B6E4F"/>
                </a:solidFill>
                <a:latin typeface="Calibri"/>
              </a:rPr>
              <a:t>60%</a:t>
            </a:r>
          </a:p>
          <a:p>
            <a:pPr algn="ctr"/>
            <a:r>
              <a:rPr sz="1100" b="0">
                <a:solidFill>
                  <a:srgbClr val="5C6773"/>
                </a:solidFill>
                <a:latin typeface="Calibri"/>
              </a:rPr>
              <a:t>Need depth ≥ original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72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 Q19 hub interest: somewhat 47% · very interested 33% · neutral 18% · not interested 2%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 Q24 if overseas research brand partnered for CN content/tools: free-only 37% · quality-first 27% · follow 20% · consider paid 15%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 Trust conditions (Q25): depth ≥ overseas 60% · weekly cadence 47% · quality translation 47% · clear attribution 43%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 Also: fair China pricing 25% · local community 20% · no gambling framing 18%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C6773"/>
                </a:solidFill>
                <a:latin typeface="Calibri"/>
              </a:rPr>
              <a:t>FALEAGUE AI  ·  Scout conversation deck v2 (survey evidence)  ·  10/18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6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F1C2E"/>
                </a:solidFill>
                <a:latin typeface="Calibri"/>
              </a:rPr>
              <a:t>9 · Unaided trust names (Q7)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41248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C6773"/>
                </a:solidFill>
                <a:latin typeface="Calibri"/>
              </a:rPr>
              <a:t>n=34 usable open answers · brands were NOT prompted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Creators dominate recall: FPL Harry ~32% of answered · All About Fantasy ~12%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Also: FPL Focal / FPL Gameweek / Andy / Big Man / Sam (~9% each of answered)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Fantasy Football Scout / FFS appears in 3 answers (~9% of answered)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Use carefully: Scout has unaided presence for some managers — not a high awareness claim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Creators are the top-of-mind layer; Scout can win as the attributed research brand behind CN packaging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C6773"/>
                </a:solidFill>
                <a:latin typeface="Calibri"/>
              </a:rPr>
              <a:t>FALEAGUE AI  ·  Scout conversation deck v2 (survey evidence)  ·  11/18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6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F1C2E"/>
                </a:solidFill>
                <a:latin typeface="Calibri"/>
              </a:rPr>
              <a:t>10 · What we built — FALEAGUE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Live: faleague-ai.com (EN + ZH) · sister faleague.cn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Tool-grounded AI + Insights tables + Entry ID planner · WeChat daily cards / 小程序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Survey product signal (secondary): 75% tried at least once; NPS ~58 among users (n=45)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Most useful cited: Insights + squad builder; formats they want match our daily card + tables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We already cite Scout in Chinese digests — amplifying quality signal into WeChat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C6773"/>
                </a:solidFill>
                <a:latin typeface="Calibri"/>
              </a:rPr>
              <a:t>FALEAGUE AI  ·  Scout conversation deck v2 (survey evidence)  ·  12/18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6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F1C2E"/>
                </a:solidFill>
                <a:latin typeface="Calibri"/>
              </a:rPr>
              <a:t>11 · Demo (3 minutes live)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/zh/fpl/insights — Best of Position, pre-season, set-pieces, fixtures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/zh/chat — tool-grounded AI with Entry ID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One WeChat daily card / BOP hook with deep links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Not claiming Opta parity — China product + distribution layer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C6773"/>
                </a:solidFill>
                <a:latin typeface="Calibri"/>
              </a:rPr>
              <a:t>FALEAGUE AI  ·  Scout conversation deck v2 (survey evidence)  ·  13/18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6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F1C2E"/>
                </a:solidFill>
                <a:latin typeface="Calibri"/>
              </a:rPr>
              <a:t>12 · Collaboration options (updated by evidence)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 A. Content &amp; attribution (recommended next) — Scout-approved Chinese WeChat/XHS cards; clear source + link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 B. Co-branded China Insights page — Scout editorial + our ZH UI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 C. Soft membership funnel — unique links for advanced bilingual managers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 D. Survey — DONE (unbranded). Optional later: co-published China-lens report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 Evidence says start with A: short daily cards + attribution + depth; keep ¥ pricing light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C6773"/>
                </a:solidFill>
                <a:latin typeface="Calibri"/>
              </a:rPr>
              <a:t>FALEAGUE AI  ·  Scout conversation deck v2 (survey evidence)  ·  14/18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6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F1C2E"/>
                </a:solidFill>
                <a:latin typeface="Calibri"/>
              </a:rPr>
              <a:t>13 · Proposed next 90 days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80160"/>
            <a:ext cx="11155680" cy="585216"/>
          </a:xfrm>
          <a:prstGeom prst="rect">
            <a:avLst/>
          </a:prstGeom>
          <a:solidFill>
            <a:srgbClr val="F4F6F8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Done  ·  Unbranded survey fielded &amp; analysed (n=65 / focus 60)  →  Evidence in this deck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938528"/>
            <a:ext cx="11155680" cy="585216"/>
          </a:xfrm>
          <a:prstGeom prst="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Week 1–2  ·  Align Scout brand/attribution rules; pick 2–3 safe content types  →  One-pager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596896"/>
            <a:ext cx="11155680" cy="585216"/>
          </a:xfrm>
          <a:prstGeom prst="rect">
            <a:avLst/>
          </a:prstGeom>
          <a:solidFill>
            <a:srgbClr val="F4F6F8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Week 2–6  ·  Ship attributed WeChat/XHS cards + unique links  →  CTR / deep-links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255264"/>
            <a:ext cx="11155680" cy="585216"/>
          </a:xfrm>
          <a:prstGeom prst="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Week 6–10  ·  Optional: one co-branded Insights asset for a key GW  →  Engagement + qualitative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3913631"/>
            <a:ext cx="11155680" cy="585216"/>
          </a:xfrm>
          <a:prstGeom prst="rect">
            <a:avLst/>
          </a:prstGeom>
          <a:solidFill>
            <a:srgbClr val="F4F6F8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Week 10–12  ·  Review: expand, membership test, or stop  →  Go / no-go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C6773"/>
                </a:solidFill>
                <a:latin typeface="Calibri"/>
              </a:rPr>
              <a:t>FALEAGUE AI  ·  Scout conversation deck v2 (survey evidence)  ·  15/18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6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F1C2E"/>
                </a:solidFill>
                <a:latin typeface="Calibri"/>
              </a:rPr>
              <a:t>14 · Ask on this call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Interest in a time-boxed attributed content pilot (option A)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One point of contact for brand/content approval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What must never be localised without editorial control?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Prefer brand reach only, or also explore membership / licensing later?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Optional: comfort with citing this survey as joint directional research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C6773"/>
                </a:solidFill>
                <a:latin typeface="Calibri"/>
              </a:rPr>
              <a:t>FALEAGUE AI  ·  Scout conversation deck v2 (survey evidence)  ·  16/18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6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F1C2E"/>
                </a:solidFill>
                <a:latin typeface="Calibri"/>
              </a:rPr>
              <a:t>15 · Discussion prompts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Is China a strategic priority for Scout in 12–24 months, or opportunistic?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Does 80% hub interest + WeChat distribution change the priority?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How should Scout show up vs creator ecosystem (Harry etc. dominate unaided recall)?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What commercial path is acceptable in China given ¥ price sensitivity?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Who owns the pilot internally if we proceed?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C6773"/>
                </a:solidFill>
                <a:latin typeface="Calibri"/>
              </a:rPr>
              <a:t>FALEAGUE AI  ·  Scout conversation deck v2 (survey evidence)  ·  17/18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6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F1C2E"/>
                </a:solidFill>
                <a:latin typeface="Calibri"/>
              </a:rPr>
              <a:t>16 · Closing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Scout = trust + depth · FALEAGUE = bilingual product + WeChat China distribution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Survey: overseas signal is already consumed; WeChat is the habit loop; hub demand is real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Ask = reversible attributed content pilot — not a big-bang JV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4206240"/>
            <a:ext cx="10789920" cy="1463040"/>
          </a:xfrm>
          <a:prstGeom prst="rect">
            <a:avLst/>
          </a:prstGeom>
          <a:solidFill>
            <a:srgbClr val="F4F6F8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0B6E4F"/>
                </a:solidFill>
                <a:latin typeface="Calibri"/>
              </a:rPr>
              <a:t>Evidence one-liner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0F1C2E"/>
                </a:solidFill>
                <a:latin typeface="Calibri"/>
              </a:rPr>
              <a:t>In this WeChat sample (n=60 focus), 67% use overseas FPL sources, 92% live in WeChat groups, 80% want an attributed Chinese hub — and pricing must stay careful in ¥.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C6773"/>
                </a:solidFill>
                <a:latin typeface="Calibri"/>
              </a:rPr>
              <a:t>FALEAGUE AI  ·  Scout conversation deck v2 (survey evidence)  ·  18/18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